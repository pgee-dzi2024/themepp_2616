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Иван Златев" initials="ИЗ" lastIdx="11" clrIdx="0">
    <p:extLst>
      <p:ext uri="{19B8F6BF-5375-455C-9EA6-DF929625EA0E}">
        <p15:presenceInfo xmlns:p15="http://schemas.microsoft.com/office/powerpoint/2012/main" userId="96fbdbd0828b088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1:22.157" idx="2">
    <p:pos x="10" y="10"/>
    <p:text>Причината да разработя тази система е свързана с ограниченията на стандартния, синхронен подход при изпращане на имейли. Ако сървърът трябва да изпрати стотици съобщения едно след друго, докато потребителят чака, възникват сериозни проблеми. Потребителският интерфейс блокира, а поради времето, необходимо за обработка, браузърът често прекъсва връзката (HTTP Timeout). Това води не само до лошо потребителско изживяване, но и до загуба на данни за това кои имейли са изпратени успешно и кои не.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1:42.821" idx="3">
    <p:pos x="10" y="10"/>
    <p:text>За да реша този проблем, си поставих за цел да проектирам и разработя съвременна уеб система, която да управлява кампаниите асинхронно – тоест във фонов режим. За реализацията на проекта избрах утвърдени технологии: Python и Django за сървърната част, и Vue.js за изграждане на динамичен и бърз потребителски интерфейс.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2:11.262" idx="4">
    <p:pos x="10" y="10"/>
    <p:text>За да разберем нуждата от асинхронност, трябва да погледнем как работи самият SMTP протокол. Всяко изпращане на имейл е процес, който преминава през няколко етапа – установяване на връзка, автентикация, и прехвърляне на данни. Всяка една от тези стъпки комуникира с външен сървър и генерира мрежово забавяне (latency). Когато умножим това забавяне по хиляди получатели, става ясно защо процесът трябва да се отдели от главната нишка на уеб приложението.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2:25.704" idx="5">
    <p:pos x="10" y="10"/>
    <p:text>Архитектурата на моята система е базирана на клиент-сървър модел (Single Page Application). Фронтендът комуникира с бекенда единствено чрез API заявки. Бекендът, изграден с Django REST Framework, приема заявките и работи с базата данни. Най-важният компонент тук е Асинхронният Worker – специален модул, написан на Python, който работи независимо и поема тежката задача по изпращането на съобщенията.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2:39.371" idx="6">
    <p:pos x="10" y="10"/>
    <p:text>Базата данни е проектирана така, че да пази пълна история на комуникацията. Имаме таблица за самите маркетинг кампании и таблица със списък от получатели. Свързващата таблица CampaignRecipient е ключова – тя пази статуса на всеки отделен имейл: дали е в процес на изчакване, дали е изпратен, или е възникнала грешка. Също така създадох специален модел за подробни технически логове, който улеснява проследяването на проблеми.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2:51.697" idx="7">
    <p:pos x="10" y="10"/>
    <p:text>Сърцето на проекта е асинхронният Worker. Когато потребителят стартира кампания, тя не се изпълнява веднага, а се добавя в опашка от задачи (Queue). Фоновата нишка постоянно следи тази опашка и обработва кампаниите една по една. Внедрила съм и логика за автоматично повторно изпращане при временни грешки, както и механизъм за контролиране на натоварването, за да не бъдем блокирани от SMTP доставчика като спам.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3:02.959" idx="8">
    <p:pos x="10" y="10"/>
    <p:text>От страна на потребителя, системата е много интуитивна. Чрез Vue.js реализирах възможност за лесен импорт на получатели от CSV файлове и валидация на имейлите в реално време. Тъй като изпращането се случва във фонов режим, използвах HTTP Polling – фронтендът периодично пита сървъра докъде е стигнала кампанията, и автоматично обновява прогрес-бара, докато потребителят може свободно да навигира в системата и да използва бутони за старт, пауза и стоп.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3:15.744" idx="9">
    <p:pos x="10" y="10"/>
    <p:text>За да се уверя в надеждността на системата, проведох серия от тестове. Функционалните тестове доказаха, че CRUD операциите работят коректно. Проведох и стрес тестове с голям обем данни, които показаха, че асинхронният механизъм издържа на натоварване без да блокира системата. Тествах и устойчивостта при симулирано прекъсване на мрежата – Worker-ът успешно записва грешките и възстановява работата си при наличие на връзка.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3:27.719" idx="10">
    <p:pos x="10" y="10"/>
    <p:text>В бъдеще системата може да бъде надградена чрез използване на WebSockets вместо Polling за още по-бързи известия в реално време. Също така, при мащабиране към милиони съобщения, Python Threading модулът може да бъде заменен с по-мощни инструменти като Celery и Redis. Планирам и добавянето на проследяващи пиксели за отчитане на това колко от получателите са отворили имейлите си.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2T02:43:37.751" idx="11">
    <p:pos x="10" y="10"/>
    <p:text>С това изложение бих искала да обобщя, че целите на проекта са изпълнени и създадената система успешно решава проблема с блокирането на интерфейса при масова комуникация. Благодаря ви много за отделеното внимание! Ще се радвам да отговоря на вашите въпроси.</p:text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38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1830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разд.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647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016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837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12630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7470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1695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4379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2477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01582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4DD1181-6FB2-F8F9-28CD-3AEFECF04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C7CF640B-E2D2-BB01-FD3C-12BA99F21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B7B30176-417D-A427-7D6B-CFFFBCBA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59381F0C-082D-2052-9AB5-498FAA57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576FC9D6-F558-9614-D895-1464DA61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0124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F50D8EC-7F18-4643-9D35-F38C409FDBFB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955086-3592-4EFE-AC8F-23CC3478B233}" type="slidenum">
              <a:rPr lang="bg-BG" smtClean="0"/>
              <a:t>‹#›</a:t>
            </a:fld>
            <a:endParaRPr lang="bg-B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69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D0133966-ABB9-0F3E-336C-791E4AD2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121" y="0"/>
            <a:ext cx="12192000" cy="680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16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F2B3E00-EC3A-C218-018D-51575697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Проблемът при синхронното изпълнение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F167BDA4-75F2-E1F0-DB52-F03D6C346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HTTP Timeout: </a:t>
            </a:r>
            <a:r>
              <a:rPr lang="bg-BG"/>
              <a:t>Браузърът прекъсва връзката при дълги процеси.</a:t>
            </a:r>
          </a:p>
          <a:p>
            <a:r>
              <a:rPr lang="bg-BG"/>
              <a:t>• Блокиран потребителски интерфейс (замръзване).</a:t>
            </a:r>
          </a:p>
          <a:p>
            <a:r>
              <a:rPr lang="bg-BG"/>
              <a:t>• Неконтролируемо прекъсване и загуба на данни за изпратените съобщения.</a:t>
            </a:r>
          </a:p>
          <a:p>
            <a:r>
              <a:rPr lang="bg-BG"/>
              <a:t>• Лошо потребителско изживяване (</a:t>
            </a:r>
            <a:r>
              <a:rPr lang="en-US"/>
              <a:t>UX).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29502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F66699A-1D2D-CAFF-61F8-FF363E47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Цел и задачи на проекта</a:t>
            </a:r>
            <a:endParaRPr lang="bg-BG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C7AC6F9D-6721-E92C-7CD2-FDB845522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• Проектиране на уеб система за масова комуникация.</a:t>
            </a:r>
          </a:p>
          <a:p>
            <a:r>
              <a:rPr lang="ru-RU"/>
              <a:t>• Внедряване на асинхронен механизъм (фонови процеси).</a:t>
            </a:r>
          </a:p>
          <a:p>
            <a:r>
              <a:rPr lang="ru-RU"/>
              <a:t>• Управление на маркетинг кампании и списъци с получатели.</a:t>
            </a:r>
          </a:p>
          <a:p>
            <a:r>
              <a:rPr lang="ru-RU"/>
              <a:t>• Избор на технологии: Python, Django, Vue.js.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9574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4273FA6-C0D3-298B-7DB4-9F6643B4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Протокол SMTP и сесия на изпращане</a:t>
            </a:r>
            <a:endParaRPr lang="bg-BG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477A4602-F1D3-CB9E-5D73-CB85959EF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SMTP (Simple Mail Transfer Protocol) – </a:t>
            </a:r>
            <a:r>
              <a:rPr lang="bg-BG"/>
              <a:t>стандарт за предаване на поща.</a:t>
            </a:r>
          </a:p>
          <a:p>
            <a:r>
              <a:rPr lang="bg-BG"/>
              <a:t>• Етапи: </a:t>
            </a:r>
            <a:r>
              <a:rPr lang="en-US"/>
              <a:t>TCP </a:t>
            </a:r>
            <a:r>
              <a:rPr lang="bg-BG"/>
              <a:t>връзка -&gt; Поздрав (</a:t>
            </a:r>
            <a:r>
              <a:rPr lang="en-US"/>
              <a:t>HELO) -&gt; </a:t>
            </a:r>
            <a:r>
              <a:rPr lang="bg-BG"/>
              <a:t>Автентикация -&gt; </a:t>
            </a:r>
            <a:r>
              <a:rPr lang="en-US"/>
              <a:t>MAIL FROM -&gt; RCPT TO -&gt; DATA -&gt; QUIT.</a:t>
            </a:r>
          </a:p>
          <a:p>
            <a:r>
              <a:rPr lang="en-US"/>
              <a:t>• </a:t>
            </a:r>
            <a:r>
              <a:rPr lang="bg-BG"/>
              <a:t>Мрежовото забавяне (</a:t>
            </a:r>
            <a:r>
              <a:rPr lang="en-US"/>
              <a:t>latency) </a:t>
            </a:r>
            <a:r>
              <a:rPr lang="bg-BG"/>
              <a:t>при всяка стъпка налага асинхронност.</a:t>
            </a:r>
          </a:p>
        </p:txBody>
      </p:sp>
    </p:spTree>
    <p:extLst>
      <p:ext uri="{BB962C8B-B14F-4D97-AF65-F5344CB8AC3E}">
        <p14:creationId xmlns:p14="http://schemas.microsoft.com/office/powerpoint/2010/main" val="318428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74CDA57-5B2C-8259-0694-F8894DBC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Архитектура на системата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28D92614-2057-6E8D-4594-374D1BD5D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• Клиент-сървър модел (</a:t>
            </a:r>
            <a:r>
              <a:rPr lang="en-US"/>
              <a:t>Single Page Application).</a:t>
            </a:r>
          </a:p>
          <a:p>
            <a:r>
              <a:rPr lang="en-US"/>
              <a:t>• </a:t>
            </a:r>
            <a:r>
              <a:rPr lang="bg-BG"/>
              <a:t>Фронтенд: </a:t>
            </a:r>
            <a:r>
              <a:rPr lang="en-US"/>
              <a:t>Vue.js </a:t>
            </a:r>
            <a:r>
              <a:rPr lang="bg-BG"/>
              <a:t>и </a:t>
            </a:r>
            <a:r>
              <a:rPr lang="en-US"/>
              <a:t>Axios (</a:t>
            </a:r>
            <a:r>
              <a:rPr lang="bg-BG"/>
              <a:t>реактивен интерфейс).</a:t>
            </a:r>
          </a:p>
          <a:p>
            <a:r>
              <a:rPr lang="bg-BG"/>
              <a:t>• Бекенд </a:t>
            </a:r>
            <a:r>
              <a:rPr lang="en-US"/>
              <a:t>API: Django REST Framework.</a:t>
            </a:r>
          </a:p>
          <a:p>
            <a:r>
              <a:rPr lang="en-US"/>
              <a:t>• </a:t>
            </a:r>
            <a:r>
              <a:rPr lang="bg-BG"/>
              <a:t>Слой за данни: </a:t>
            </a:r>
            <a:r>
              <a:rPr lang="en-US"/>
              <a:t>SQLite </a:t>
            </a:r>
            <a:r>
              <a:rPr lang="bg-BG"/>
              <a:t>и </a:t>
            </a:r>
            <a:r>
              <a:rPr lang="en-US"/>
              <a:t>Django ORM.</a:t>
            </a:r>
          </a:p>
          <a:p>
            <a:r>
              <a:rPr lang="en-US"/>
              <a:t>• </a:t>
            </a:r>
            <a:r>
              <a:rPr lang="bg-BG"/>
              <a:t>Асинхронен </a:t>
            </a:r>
            <a:r>
              <a:rPr lang="en-US"/>
              <a:t>Worker: Python Threading </a:t>
            </a:r>
            <a:r>
              <a:rPr lang="bg-BG"/>
              <a:t>модул.</a:t>
            </a:r>
          </a:p>
        </p:txBody>
      </p:sp>
    </p:spTree>
    <p:extLst>
      <p:ext uri="{BB962C8B-B14F-4D97-AF65-F5344CB8AC3E}">
        <p14:creationId xmlns:p14="http://schemas.microsoft.com/office/powerpoint/2010/main" val="3688330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863AA3B-24AD-F886-E1FE-B1B86B9F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Моделиране на данните (DB Schema)</a:t>
            </a:r>
            <a:endParaRPr lang="bg-BG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5EDB38E0-1648-5AE4-0205-BC588FFE9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Campaign: </a:t>
            </a:r>
            <a:r>
              <a:rPr lang="bg-BG"/>
              <a:t>Име, тема, съдържание, статус.</a:t>
            </a:r>
          </a:p>
          <a:p>
            <a:r>
              <a:rPr lang="bg-BG"/>
              <a:t>• </a:t>
            </a:r>
            <a:r>
              <a:rPr lang="en-US"/>
              <a:t>Recipient: </a:t>
            </a:r>
            <a:r>
              <a:rPr lang="bg-BG"/>
              <a:t>База данни с имейли.</a:t>
            </a:r>
          </a:p>
          <a:p>
            <a:r>
              <a:rPr lang="bg-BG"/>
              <a:t>• </a:t>
            </a:r>
            <a:r>
              <a:rPr lang="en-US"/>
              <a:t>CampaignRecipient: </a:t>
            </a:r>
            <a:r>
              <a:rPr lang="bg-BG"/>
              <a:t>Статус на изпращане за конкретен получател (</a:t>
            </a:r>
            <a:r>
              <a:rPr lang="en-US"/>
              <a:t>Pending, Sent, Failed).</a:t>
            </a:r>
          </a:p>
          <a:p>
            <a:r>
              <a:rPr lang="en-US"/>
              <a:t>• EmailSendLog: </a:t>
            </a:r>
            <a:r>
              <a:rPr lang="bg-BG"/>
              <a:t>Детайлни технически логове за грешки.</a:t>
            </a:r>
          </a:p>
        </p:txBody>
      </p:sp>
    </p:spTree>
    <p:extLst>
      <p:ext uri="{BB962C8B-B14F-4D97-AF65-F5344CB8AC3E}">
        <p14:creationId xmlns:p14="http://schemas.microsoft.com/office/powerpoint/2010/main" val="1829658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8573D6F-9F69-5B34-400C-901349D0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Реализация на асинхронния </a:t>
            </a:r>
            <a:r>
              <a:rPr lang="en-US"/>
              <a:t>Worker</a:t>
            </a:r>
            <a:endParaRPr lang="bg-BG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6F7F528A-4DA3-73F0-ADC9-B1B96CD85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• Използване на Queue (опашка от задачи) за кампаниите.</a:t>
            </a:r>
          </a:p>
          <a:p>
            <a:r>
              <a:rPr lang="ru-RU"/>
              <a:t>• Background Thread (фонова нишка), която работи независимо от UI.</a:t>
            </a:r>
          </a:p>
          <a:p>
            <a:r>
              <a:rPr lang="ru-RU"/>
              <a:t>• Механизъм за автоматично повторно изпращане (Retry logic).</a:t>
            </a:r>
          </a:p>
          <a:p>
            <a:r>
              <a:rPr lang="ru-RU"/>
              <a:t>• Контрол на натоварването на SMTP сървъра.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914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6058EAE-9046-FD48-F520-FE3374C6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Потребителски интерфейс (</a:t>
            </a:r>
            <a:r>
              <a:rPr lang="en-US"/>
              <a:t>Vue.js)</a:t>
            </a:r>
            <a:endParaRPr lang="bg-BG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EC258256-9BF3-2021-67F7-19CAF87CE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• Импорт на получатели от CSV файлове.</a:t>
            </a:r>
          </a:p>
          <a:p>
            <a:r>
              <a:rPr lang="ru-RU"/>
              <a:t>• Валидация на имейл адреси в реално време.</a:t>
            </a:r>
          </a:p>
          <a:p>
            <a:r>
              <a:rPr lang="ru-RU"/>
              <a:t>• HTTP Polling: Автоматично обновяване на прогрес-бара на кампанията.</a:t>
            </a:r>
          </a:p>
          <a:p>
            <a:r>
              <a:rPr lang="ru-RU"/>
              <a:t>• Управление на състоянията: Старт, Пауза, Стоп.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730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E9C927-330E-202E-BEA3-D1C574A9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Тестване и оценка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ED6E6D3F-E63D-4883-C4D4-EF699CFDF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• Функционално тестване на модулите за управление.</a:t>
            </a:r>
          </a:p>
          <a:p>
            <a:r>
              <a:rPr lang="ru-RU"/>
              <a:t>• Стрес тестове с голям обем получатели.</a:t>
            </a:r>
          </a:p>
          <a:p>
            <a:r>
              <a:rPr lang="ru-RU"/>
              <a:t>• Тестване на устойчивостта при мрежови прекъсвания.</a:t>
            </a:r>
          </a:p>
          <a:p>
            <a:r>
              <a:rPr lang="ru-RU"/>
              <a:t>• Потвърдена функционална завършеност и стабилност.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5600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9F7D138-CC47-A278-2933-2F10169D4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Насоки за бъдещо развитие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68532511-ADD7-8DAF-46CD-2B61D5D56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• Интеграция на </a:t>
            </a:r>
            <a:r>
              <a:rPr lang="en-US"/>
              <a:t>WebSockets </a:t>
            </a:r>
            <a:r>
              <a:rPr lang="bg-BG"/>
              <a:t>за известия в реално време.</a:t>
            </a:r>
          </a:p>
          <a:p>
            <a:r>
              <a:rPr lang="bg-BG"/>
              <a:t>• Мащабиране чрез </a:t>
            </a:r>
            <a:r>
              <a:rPr lang="en-US"/>
              <a:t>Celery </a:t>
            </a:r>
            <a:r>
              <a:rPr lang="bg-BG"/>
              <a:t>и </a:t>
            </a:r>
            <a:r>
              <a:rPr lang="en-US"/>
              <a:t>Redis </a:t>
            </a:r>
            <a:r>
              <a:rPr lang="bg-BG"/>
              <a:t>за милиони съобщения.</a:t>
            </a:r>
          </a:p>
          <a:p>
            <a:r>
              <a:rPr lang="bg-BG"/>
              <a:t>• </a:t>
            </a:r>
            <a:r>
              <a:rPr lang="en-US"/>
              <a:t>Tracking pixels </a:t>
            </a:r>
            <a:r>
              <a:rPr lang="bg-BG"/>
              <a:t>за проследяване на '</a:t>
            </a:r>
            <a:r>
              <a:rPr lang="en-US"/>
              <a:t>Open Rate'.</a:t>
            </a:r>
          </a:p>
          <a:p>
            <a:r>
              <a:rPr lang="en-US"/>
              <a:t>• WYSIWYG </a:t>
            </a:r>
            <a:r>
              <a:rPr lang="bg-BG"/>
              <a:t>визуален редактор на </a:t>
            </a:r>
            <a:r>
              <a:rPr lang="en-US"/>
              <a:t>HTML </a:t>
            </a:r>
            <a:r>
              <a:rPr lang="bg-BG"/>
              <a:t>шаблони.</a:t>
            </a:r>
          </a:p>
        </p:txBody>
      </p:sp>
    </p:spTree>
    <p:extLst>
      <p:ext uri="{BB962C8B-B14F-4D97-AF65-F5344CB8AC3E}">
        <p14:creationId xmlns:p14="http://schemas.microsoft.com/office/powerpoint/2010/main" val="1515373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47D8AC5-1D73-A571-8357-A73AFE0346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Благодаря за вниманието!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E273C261-3754-4117-B931-C5489C4BE7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Ако имате въпроси готова съм да отговоря!</a:t>
            </a:r>
          </a:p>
        </p:txBody>
      </p:sp>
    </p:spTree>
    <p:extLst>
      <p:ext uri="{BB962C8B-B14F-4D97-AF65-F5344CB8AC3E}">
        <p14:creationId xmlns:p14="http://schemas.microsoft.com/office/powerpoint/2010/main" val="234234717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спекция">
  <a:themeElements>
    <a:clrScheme name="Ретроспекция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спекц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ция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</TotalTime>
  <Words>423</Words>
  <Application>Microsoft Office PowerPoint</Application>
  <PresentationFormat>Широк екран</PresentationFormat>
  <Paragraphs>47</Paragraphs>
  <Slides>11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Ретроспекция</vt:lpstr>
      <vt:lpstr>Презентация на PowerPoint</vt:lpstr>
      <vt:lpstr>Проблемът при синхронното изпълнение</vt:lpstr>
      <vt:lpstr>Цел и задачи на проекта</vt:lpstr>
      <vt:lpstr>Протокол SMTP и сесия на изпращане</vt:lpstr>
      <vt:lpstr>Архитектура на системата</vt:lpstr>
      <vt:lpstr>Моделиране на данните (DB Schema)</vt:lpstr>
      <vt:lpstr>Реализация на асинхронния Worker</vt:lpstr>
      <vt:lpstr>Потребителски интерфейс (Vue.js)</vt:lpstr>
      <vt:lpstr>Тестване и оценка</vt:lpstr>
      <vt:lpstr>Насоки за бъдещо развитие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Златев</dc:creator>
  <cp:lastModifiedBy>Иван Златев</cp:lastModifiedBy>
  <cp:revision>3</cp:revision>
  <dcterms:created xsi:type="dcterms:W3CDTF">2026-05-11T23:22:29Z</dcterms:created>
  <dcterms:modified xsi:type="dcterms:W3CDTF">2026-05-11T23:44:05Z</dcterms:modified>
</cp:coreProperties>
</file>